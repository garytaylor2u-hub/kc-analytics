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561" r:id="rId5"/>
    <p:sldId id="2562" r:id="rId6"/>
    <p:sldId id="2563" r:id="rId7"/>
    <p:sldId id="25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tual vs Forecast Sales Trends (Jan-Jun 2025)" id="{18B2A333-5771-479A-AFD9-20806769BA9E}">
          <p14:sldIdLst>
            <p14:sldId id="2561"/>
          </p14:sldIdLst>
        </p14:section>
        <p14:section name="Sales Trends Overview" id="{1BCE5778-E46F-4D41-8C1F-5C6A14AC0AD6}">
          <p14:sldIdLst>
            <p14:sldId id="2562"/>
            <p14:sldId id="2563"/>
            <p14:sldId id="25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3FD2DF-CEC7-6938-39D5-3092C713F977}" v="40" dt="2025-11-30T11:53:46.263"/>
    <p1510:client id="{7B824BF0-60EE-4FCE-9616-D2EE3AC07A4B}" v="5" dt="2025-11-30T11:30:18.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709AA-9CA4-4057-9E47-D7BC5DFC9514}" type="datetimeFigureOut">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BB09B-4D78-4860-A34E-48F09F62AA0E}" type="slidenum">
              <a:t>‹#›</a:t>
            </a:fld>
            <a:endParaRPr lang="en-US"/>
          </a:p>
        </p:txBody>
      </p:sp>
    </p:spTree>
    <p:extLst>
      <p:ext uri="{BB962C8B-B14F-4D97-AF65-F5344CB8AC3E}">
        <p14:creationId xmlns:p14="http://schemas.microsoft.com/office/powerpoint/2010/main" val="4188791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C636308-CE3A-4961-92FA-C87F177BED80}" type="slidenum">
              <a:t>1</a:t>
            </a:fld>
            <a:endParaRPr lang="en-US"/>
          </a:p>
        </p:txBody>
      </p:sp>
    </p:spTree>
    <p:extLst>
      <p:ext uri="{BB962C8B-B14F-4D97-AF65-F5344CB8AC3E}">
        <p14:creationId xmlns:p14="http://schemas.microsoft.com/office/powerpoint/2010/main" val="1798747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vs Forecast Sales Analysis</a:t>
            </a:r>
          </a:p>
        </p:txBody>
      </p:sp>
      <p:sp>
        <p:nvSpPr>
          <p:cNvPr id="4" name="Slide Number Placeholder 3"/>
          <p:cNvSpPr>
            <a:spLocks noGrp="1"/>
          </p:cNvSpPr>
          <p:nvPr>
            <p:ph type="sldNum" sz="quarter" idx="5"/>
          </p:nvPr>
        </p:nvSpPr>
        <p:spPr/>
        <p:txBody>
          <a:bodyPr/>
          <a:lstStyle/>
          <a:p>
            <a:fld id="{DC636308-CE3A-4961-92FA-C87F177BED80}" type="slidenum">
              <a:t>2</a:t>
            </a:fld>
            <a:endParaRPr lang="en-US"/>
          </a:p>
        </p:txBody>
      </p:sp>
    </p:spTree>
    <p:extLst>
      <p:ext uri="{BB962C8B-B14F-4D97-AF65-F5344CB8AC3E}">
        <p14:creationId xmlns:p14="http://schemas.microsoft.com/office/powerpoint/2010/main" val="2853856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of Actual versus Forecast sales trends for the first half of 2025 provides valuable insights into performance and projections. Actual sales began at 120 units in January and showed a steady increase through May, peaking at 210 units before experiencing a slight decline to 195 units in June. This pattern suggests strong growth during the spring months, followed by a minor slowdown as summer approached. In contrast, forecasted sales consistently projected higher figures, starting at 220 units in January and climbing steadily to 300 units by June. The widening gap between actual and forecasted sales over time indicates that while the business anticipated aggressive growth, actual performance fell short of expectations. This discrepancy could be attributed to various factors such as market conditions, supply chain challenges, or changes in consumer demand. Understanding these trends is critical for refining future forecasts and adjusting operational strategies. The consistent upward trajectory in forecasts highlights optimism in planning, but the divergence from actual results underscores the need for more accurate predictive models and responsive business tactics. By closely monitoring these patterns, organizations can identify areas for improvement, enhance forecasting accuracy, and implement corrective measures to align performance with strategic goals.</a:t>
            </a:r>
          </a:p>
        </p:txBody>
      </p:sp>
      <p:sp>
        <p:nvSpPr>
          <p:cNvPr id="4" name="Slide Number Placeholder 3"/>
          <p:cNvSpPr>
            <a:spLocks noGrp="1"/>
          </p:cNvSpPr>
          <p:nvPr>
            <p:ph type="sldNum" sz="quarter" idx="5"/>
          </p:nvPr>
        </p:nvSpPr>
        <p:spPr/>
        <p:txBody>
          <a:bodyPr/>
          <a:lstStyle/>
          <a:p>
            <a:fld id="{DC636308-CE3A-4961-92FA-C87F177BED80}" type="slidenum">
              <a:t>3</a:t>
            </a:fld>
            <a:endParaRPr lang="en-US"/>
          </a:p>
        </p:txBody>
      </p:sp>
    </p:spTree>
    <p:extLst>
      <p:ext uri="{BB962C8B-B14F-4D97-AF65-F5344CB8AC3E}">
        <p14:creationId xmlns:p14="http://schemas.microsoft.com/office/powerpoint/2010/main" val="27357023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11/30/2025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11/30/2025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11/30/2025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11/30/2025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11/30/2025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11/30/2025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15D-4D61-1A5A-BCEE-518C05440A3E}"/>
              </a:ext>
            </a:extLst>
          </p:cNvPr>
          <p:cNvSpPr>
            <a:spLocks noGrp="1"/>
          </p:cNvSpPr>
          <p:nvPr>
            <p:ph type="ctrTitle"/>
          </p:nvPr>
        </p:nvSpPr>
        <p:spPr>
          <a:xfrm>
            <a:off x="1752600" y="1447800"/>
            <a:ext cx="8686800" cy="2491655"/>
          </a:xfrm>
        </p:spPr>
        <p:txBody>
          <a:bodyPr anchor="b">
            <a:normAutofit/>
          </a:bodyPr>
          <a:lstStyle/>
          <a:p>
            <a:r>
              <a:rPr lang="en-US" sz="5600"/>
              <a:t>Actual vs Forecast Sales Trends (Jan-Jun 2025)</a:t>
            </a:r>
          </a:p>
        </p:txBody>
      </p:sp>
      <p:sp>
        <p:nvSpPr>
          <p:cNvPr id="3" name="Subtitle 2">
            <a:extLst>
              <a:ext uri="{FF2B5EF4-FFF2-40B4-BE49-F238E27FC236}">
                <a16:creationId xmlns:a16="http://schemas.microsoft.com/office/drawing/2014/main" id="{33202892-7411-A01A-3781-BA5884C9014C}"/>
              </a:ext>
            </a:extLst>
          </p:cNvPr>
          <p:cNvSpPr>
            <a:spLocks noGrp="1"/>
          </p:cNvSpPr>
          <p:nvPr>
            <p:ph type="subTitle" idx="1"/>
          </p:nvPr>
        </p:nvSpPr>
        <p:spPr>
          <a:xfrm>
            <a:off x="2301923" y="4039648"/>
            <a:ext cx="7588155" cy="1029310"/>
          </a:xfrm>
        </p:spPr>
        <p:txBody>
          <a:bodyPr>
            <a:normAutofit/>
          </a:bodyPr>
          <a:lstStyle/>
          <a:p>
            <a:r>
              <a:rPr lang="en-US"/>
              <a:t>Analyzing performance against predicted outcomes in first half</a:t>
            </a:r>
          </a:p>
        </p:txBody>
      </p:sp>
    </p:spTree>
    <p:extLst>
      <p:ext uri="{BB962C8B-B14F-4D97-AF65-F5344CB8AC3E}">
        <p14:creationId xmlns:p14="http://schemas.microsoft.com/office/powerpoint/2010/main" val="177202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DC1A-285E-078F-1F33-A98EC7D8C1F9}"/>
              </a:ext>
            </a:extLst>
          </p:cNvPr>
          <p:cNvSpPr>
            <a:spLocks noGrp="1"/>
          </p:cNvSpPr>
          <p:nvPr>
            <p:ph type="title"/>
          </p:nvPr>
        </p:nvSpPr>
        <p:spPr>
          <a:xfrm>
            <a:off x="111758" y="1869103"/>
            <a:ext cx="9337042" cy="4906929"/>
          </a:xfrm>
        </p:spPr>
        <p:txBody>
          <a:bodyPr anchor="b">
            <a:normAutofit/>
          </a:bodyPr>
          <a:lstStyle/>
          <a:p>
            <a:r>
              <a:rPr lang="en-US"/>
              <a:t>Sales Trends Overview</a:t>
            </a:r>
          </a:p>
        </p:txBody>
      </p:sp>
    </p:spTree>
    <p:extLst>
      <p:ext uri="{BB962C8B-B14F-4D97-AF65-F5344CB8AC3E}">
        <p14:creationId xmlns:p14="http://schemas.microsoft.com/office/powerpoint/2010/main" val="17763903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9371-B0EB-AF4D-EF9D-64AB3B53D3A9}"/>
              </a:ext>
            </a:extLst>
          </p:cNvPr>
          <p:cNvSpPr>
            <a:spLocks noGrp="1"/>
          </p:cNvSpPr>
          <p:nvPr>
            <p:ph type="title"/>
          </p:nvPr>
        </p:nvSpPr>
        <p:spPr>
          <a:xfrm>
            <a:off x="612646" y="707549"/>
            <a:ext cx="3349754" cy="2721451"/>
          </a:xfrm>
        </p:spPr>
        <p:txBody>
          <a:bodyPr anchor="t">
            <a:normAutofit/>
          </a:bodyPr>
          <a:lstStyle/>
          <a:p>
            <a:r>
              <a:rPr lang="en-US"/>
              <a:t>Actual vs Forecast Sales Analysis</a:t>
            </a:r>
          </a:p>
        </p:txBody>
      </p:sp>
      <p:graphicFrame>
        <p:nvGraphicFramePr>
          <p:cNvPr id="5" name="Content Placeholder 4">
            <a:extLst>
              <a:ext uri="{FF2B5EF4-FFF2-40B4-BE49-F238E27FC236}">
                <a16:creationId xmlns:a16="http://schemas.microsoft.com/office/drawing/2014/main" id="{BB1D7969-2DAC-4CE8-B13B-BBF8303173FC}"/>
              </a:ext>
            </a:extLst>
          </p:cNvPr>
          <p:cNvGraphicFramePr>
            <a:graphicFrameLocks noGrp="1"/>
          </p:cNvGraphicFramePr>
          <p:nvPr>
            <p:ph sz="quarter" idx="13"/>
          </p:nvPr>
        </p:nvGraphicFramePr>
        <p:xfrm>
          <a:off x="4648200" y="770449"/>
          <a:ext cx="6928104" cy="5390296"/>
        </p:xfrm>
        <a:graphic>
          <a:graphicData uri="http://schemas.openxmlformats.org/drawingml/2006/table">
            <a:tbl>
              <a:tblPr firstRow="1" bandRow="1">
                <a:noFill/>
                <a:tableStyleId>{5C22544A-7EE6-4342-B048-85BDC9FD1C3A}</a:tableStyleId>
              </a:tblPr>
              <a:tblGrid>
                <a:gridCol w="2112498">
                  <a:extLst>
                    <a:ext uri="{9D8B030D-6E8A-4147-A177-3AD203B41FA5}">
                      <a16:colId xmlns:a16="http://schemas.microsoft.com/office/drawing/2014/main" val="998148196"/>
                    </a:ext>
                  </a:extLst>
                </a:gridCol>
                <a:gridCol w="2602489">
                  <a:extLst>
                    <a:ext uri="{9D8B030D-6E8A-4147-A177-3AD203B41FA5}">
                      <a16:colId xmlns:a16="http://schemas.microsoft.com/office/drawing/2014/main" val="2460831542"/>
                    </a:ext>
                  </a:extLst>
                </a:gridCol>
                <a:gridCol w="2213117">
                  <a:extLst>
                    <a:ext uri="{9D8B030D-6E8A-4147-A177-3AD203B41FA5}">
                      <a16:colId xmlns:a16="http://schemas.microsoft.com/office/drawing/2014/main" val="3501403250"/>
                    </a:ext>
                  </a:extLst>
                </a:gridCol>
              </a:tblGrid>
              <a:tr h="448780">
                <a:tc>
                  <a:txBody>
                    <a:bodyPr/>
                    <a:lstStyle/>
                    <a:p>
                      <a:pPr>
                        <a:buNone/>
                      </a:pPr>
                      <a:r>
                        <a:rPr lang="en-US" sz="1300" b="1" cap="all" spc="150">
                          <a:solidFill>
                            <a:schemeClr val="tx1"/>
                          </a:solidFill>
                        </a:rPr>
                        <a:t>Date</a:t>
                      </a:r>
                    </a:p>
                  </a:txBody>
                  <a:tcPr marL="110962" marR="110962" marT="110962" marB="110962"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300" b="1" cap="all" spc="150">
                          <a:solidFill>
                            <a:schemeClr val="tx1"/>
                          </a:solidFill>
                        </a:rPr>
                        <a:t>Scenario</a:t>
                      </a:r>
                    </a:p>
                  </a:txBody>
                  <a:tcPr marL="110962" marR="110962" marT="110962" marB="110962"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300" b="1" cap="all" spc="150">
                          <a:solidFill>
                            <a:schemeClr val="tx1"/>
                          </a:solidFill>
                        </a:rPr>
                        <a:t>Sales</a:t>
                      </a:r>
                    </a:p>
                  </a:txBody>
                  <a:tcPr marL="110962" marR="110962" marT="110962" marB="110962"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875790522"/>
                  </a:ext>
                </a:extLst>
              </a:tr>
              <a:tr h="411793">
                <a:tc>
                  <a:txBody>
                    <a:bodyPr/>
                    <a:lstStyle/>
                    <a:p>
                      <a:pPr>
                        <a:buNone/>
                      </a:pPr>
                      <a:r>
                        <a:rPr lang="en-US" sz="1100" b="1" cap="none" spc="0">
                          <a:solidFill>
                            <a:schemeClr val="tx1"/>
                          </a:solidFill>
                        </a:rPr>
                        <a:t>1/1/2025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120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777868740"/>
                  </a:ext>
                </a:extLst>
              </a:tr>
              <a:tr h="411793">
                <a:tc>
                  <a:txBody>
                    <a:bodyPr/>
                    <a:lstStyle/>
                    <a:p>
                      <a:pPr>
                        <a:buNone/>
                      </a:pPr>
                      <a:r>
                        <a:rPr lang="en-US" sz="1100" b="1" cap="none" spc="0">
                          <a:solidFill>
                            <a:schemeClr val="tx1"/>
                          </a:solidFill>
                        </a:rPr>
                        <a:t>2/1/2025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150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0097840"/>
                  </a:ext>
                </a:extLst>
              </a:tr>
              <a:tr h="411793">
                <a:tc>
                  <a:txBody>
                    <a:bodyPr/>
                    <a:lstStyle/>
                    <a:p>
                      <a:pPr>
                        <a:buNone/>
                      </a:pPr>
                      <a:r>
                        <a:rPr lang="en-US" sz="1100" b="1" cap="none" spc="0">
                          <a:solidFill>
                            <a:schemeClr val="tx1"/>
                          </a:solidFill>
                        </a:rPr>
                        <a:t>3/1/2025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135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30974786"/>
                  </a:ext>
                </a:extLst>
              </a:tr>
              <a:tr h="411793">
                <a:tc>
                  <a:txBody>
                    <a:bodyPr/>
                    <a:lstStyle/>
                    <a:p>
                      <a:pPr>
                        <a:buNone/>
                      </a:pPr>
                      <a:r>
                        <a:rPr lang="en-US" sz="1100" b="1" cap="none" spc="0">
                          <a:solidFill>
                            <a:schemeClr val="tx1"/>
                          </a:solidFill>
                        </a:rPr>
                        <a:t>4/1/2025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180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16188050"/>
                  </a:ext>
                </a:extLst>
              </a:tr>
              <a:tr h="411793">
                <a:tc>
                  <a:txBody>
                    <a:bodyPr/>
                    <a:lstStyle/>
                    <a:p>
                      <a:pPr>
                        <a:buNone/>
                      </a:pPr>
                      <a:r>
                        <a:rPr lang="en-US" sz="1100" b="1" cap="none" spc="0">
                          <a:solidFill>
                            <a:schemeClr val="tx1"/>
                          </a:solidFill>
                        </a:rPr>
                        <a:t>5/1/2025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210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60772086"/>
                  </a:ext>
                </a:extLst>
              </a:tr>
              <a:tr h="411793">
                <a:tc>
                  <a:txBody>
                    <a:bodyPr/>
                    <a:lstStyle/>
                    <a:p>
                      <a:pPr>
                        <a:buNone/>
                      </a:pPr>
                      <a:r>
                        <a:rPr lang="en-US" sz="1100" b="1" cap="none" spc="0">
                          <a:solidFill>
                            <a:schemeClr val="tx1"/>
                          </a:solidFill>
                        </a:rPr>
                        <a:t>6/1/2025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Actual</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195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002926054"/>
                  </a:ext>
                </a:extLst>
              </a:tr>
              <a:tr h="411793">
                <a:tc>
                  <a:txBody>
                    <a:bodyPr/>
                    <a:lstStyle/>
                    <a:p>
                      <a:pPr>
                        <a:buNone/>
                      </a:pPr>
                      <a:r>
                        <a:rPr lang="en-US" sz="1100" b="1" cap="none" spc="0">
                          <a:solidFill>
                            <a:schemeClr val="tx1"/>
                          </a:solidFill>
                        </a:rPr>
                        <a:t>1/1/2025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220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14884697"/>
                  </a:ext>
                </a:extLst>
              </a:tr>
              <a:tr h="411793">
                <a:tc>
                  <a:txBody>
                    <a:bodyPr/>
                    <a:lstStyle/>
                    <a:p>
                      <a:pPr>
                        <a:buNone/>
                      </a:pPr>
                      <a:r>
                        <a:rPr lang="en-US" sz="1100" b="1" cap="none" spc="0">
                          <a:solidFill>
                            <a:schemeClr val="tx1"/>
                          </a:solidFill>
                        </a:rPr>
                        <a:t>2/1/2025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240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27082067"/>
                  </a:ext>
                </a:extLst>
              </a:tr>
              <a:tr h="411793">
                <a:tc>
                  <a:txBody>
                    <a:bodyPr/>
                    <a:lstStyle/>
                    <a:p>
                      <a:pPr>
                        <a:buNone/>
                      </a:pPr>
                      <a:r>
                        <a:rPr lang="en-US" sz="1100" b="1" cap="none" spc="0">
                          <a:solidFill>
                            <a:schemeClr val="tx1"/>
                          </a:solidFill>
                        </a:rPr>
                        <a:t>3/1/2025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230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743243858"/>
                  </a:ext>
                </a:extLst>
              </a:tr>
              <a:tr h="411793">
                <a:tc>
                  <a:txBody>
                    <a:bodyPr/>
                    <a:lstStyle/>
                    <a:p>
                      <a:pPr>
                        <a:buNone/>
                      </a:pPr>
                      <a:r>
                        <a:rPr lang="en-US" sz="1100" b="1" cap="none" spc="0">
                          <a:solidFill>
                            <a:schemeClr val="tx1"/>
                          </a:solidFill>
                        </a:rPr>
                        <a:t>4/1/2025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260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031295988"/>
                  </a:ext>
                </a:extLst>
              </a:tr>
              <a:tr h="411793">
                <a:tc>
                  <a:txBody>
                    <a:bodyPr/>
                    <a:lstStyle/>
                    <a:p>
                      <a:pPr>
                        <a:buNone/>
                      </a:pPr>
                      <a:r>
                        <a:rPr lang="en-US" sz="1100" b="1" cap="none" spc="0">
                          <a:solidFill>
                            <a:schemeClr val="tx1"/>
                          </a:solidFill>
                        </a:rPr>
                        <a:t>5/1/2025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280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03941869"/>
                  </a:ext>
                </a:extLst>
              </a:tr>
              <a:tr h="411793">
                <a:tc>
                  <a:txBody>
                    <a:bodyPr/>
                    <a:lstStyle/>
                    <a:p>
                      <a:pPr>
                        <a:buNone/>
                      </a:pPr>
                      <a:r>
                        <a:rPr lang="en-US" sz="1100" b="1" cap="none" spc="0">
                          <a:solidFill>
                            <a:schemeClr val="tx1"/>
                          </a:solidFill>
                        </a:rPr>
                        <a:t>6/1/2025</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100" cap="none" spc="0">
                          <a:solidFill>
                            <a:schemeClr val="tx1"/>
                          </a:solidFill>
                        </a:rPr>
                        <a:t>Forecast</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100" cap="none" spc="0">
                          <a:solidFill>
                            <a:schemeClr val="tx1"/>
                          </a:solidFill>
                        </a:rPr>
                        <a:t>300</a:t>
                      </a:r>
                    </a:p>
                  </a:txBody>
                  <a:tcPr marL="110962" marR="110962" marT="110962" marB="11096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3282903975"/>
                  </a:ext>
                </a:extLst>
              </a:tr>
            </a:tbl>
          </a:graphicData>
        </a:graphic>
      </p:graphicFrame>
    </p:spTree>
    <p:extLst>
      <p:ext uri="{BB962C8B-B14F-4D97-AF65-F5344CB8AC3E}">
        <p14:creationId xmlns:p14="http://schemas.microsoft.com/office/powerpoint/2010/main" val="156920850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80BE11-561D-EFF4-9250-1915DB4318B6}"/>
              </a:ext>
            </a:extLst>
          </p:cNvPr>
          <p:cNvSpPr>
            <a:spLocks noGrp="1"/>
          </p:cNvSpPr>
          <p:nvPr>
            <p:ph type="title"/>
          </p:nvPr>
        </p:nvSpPr>
        <p:spPr>
          <a:xfrm>
            <a:off x="615697" y="406850"/>
            <a:ext cx="3657600" cy="551112"/>
          </a:xfrm>
        </p:spPr>
        <p:txBody>
          <a:bodyPr/>
          <a:lstStyle/>
          <a:p>
            <a:pPr algn="ctr"/>
            <a:r>
              <a:rPr lang="en-US"/>
              <a:t>Key Insights</a:t>
            </a:r>
          </a:p>
        </p:txBody>
      </p:sp>
      <p:sp>
        <p:nvSpPr>
          <p:cNvPr id="11" name="Content Placeholder 2">
            <a:extLst>
              <a:ext uri="{FF2B5EF4-FFF2-40B4-BE49-F238E27FC236}">
                <a16:creationId xmlns:a16="http://schemas.microsoft.com/office/drawing/2014/main" id="{DF6D2FE7-0E43-F4E2-D9A4-A9614FFFDEB1}"/>
              </a:ext>
            </a:extLst>
          </p:cNvPr>
          <p:cNvSpPr>
            <a:spLocks noGrp="1"/>
          </p:cNvSpPr>
          <p:nvPr>
            <p:ph sz="quarter" idx="14"/>
          </p:nvPr>
        </p:nvSpPr>
        <p:spPr>
          <a:xfrm>
            <a:off x="445838" y="1457228"/>
            <a:ext cx="3997569" cy="3937979"/>
          </a:xfrm>
        </p:spPr>
        <p:txBody>
          <a:bodyPr vert="horz" lIns="91440" tIns="45720" rIns="91440" bIns="45720" rtlCol="0" anchor="t">
            <a:normAutofit/>
          </a:bodyPr>
          <a:lstStyle/>
          <a:p>
            <a:r>
              <a:rPr lang="en-US" dirty="0">
                <a:ea typeface="+mn-lt"/>
                <a:cs typeface="+mn-lt"/>
              </a:rPr>
              <a:t>Actual sales consistently trailed forecasted sales each month.</a:t>
            </a:r>
            <a:endParaRPr lang="en-US" dirty="0"/>
          </a:p>
          <a:p>
            <a:r>
              <a:rPr lang="en-US" dirty="0">
                <a:ea typeface="+mn-lt"/>
                <a:cs typeface="+mn-lt"/>
              </a:rPr>
              <a:t>The gap between actual and forecasted sales widened over time, with the largest shortfall in June (actual: 195 vs. forecast: 300).</a:t>
            </a:r>
            <a:endParaRPr lang="en-US" dirty="0"/>
          </a:p>
          <a:p>
            <a:r>
              <a:rPr lang="en-US" dirty="0">
                <a:ea typeface="+mn-lt"/>
                <a:cs typeface="+mn-lt"/>
              </a:rPr>
              <a:t>Actual sales peaked in May, then declined slightly in June, while forecasts projected continued growth.</a:t>
            </a:r>
            <a:endParaRPr lang="en-US" dirty="0"/>
          </a:p>
          <a:p>
            <a:r>
              <a:rPr lang="en-US" dirty="0">
                <a:ea typeface="+mn-lt"/>
                <a:cs typeface="+mn-lt"/>
              </a:rPr>
              <a:t>This suggests that forecasts were optimistic and actual performance did not keep pace, possibly due to market or operational challenges. </a:t>
            </a:r>
            <a:endParaRPr lang="en-US" dirty="0"/>
          </a:p>
          <a:p>
            <a:endParaRPr lang="en-US" dirty="0"/>
          </a:p>
        </p:txBody>
      </p:sp>
      <p:pic>
        <p:nvPicPr>
          <p:cNvPr id="4" name="Content Placeholder 3" descr="generated_image.png">
            <a:extLst>
              <a:ext uri="{FF2B5EF4-FFF2-40B4-BE49-F238E27FC236}">
                <a16:creationId xmlns:a16="http://schemas.microsoft.com/office/drawing/2014/main" id="{13685230-5A8A-F95D-0F22-1AF6AABABFB1}"/>
              </a:ext>
            </a:extLst>
          </p:cNvPr>
          <p:cNvPicPr>
            <a:picLocks noGrp="1" noChangeAspect="1"/>
          </p:cNvPicPr>
          <p:nvPr>
            <p:ph type="pic" sz="quarter" idx="13"/>
          </p:nvPr>
        </p:nvPicPr>
        <p:blipFill>
          <a:blip r:embed="rId2"/>
          <a:stretch>
            <a:fillRect/>
          </a:stretch>
        </p:blipFill>
        <p:spPr>
          <a:xfrm>
            <a:off x="4860150" y="1048476"/>
            <a:ext cx="6667500" cy="4762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28034605"/>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B79205-1ECA-438E-AAC0-B28ABB0DD1EB}">
  <ds:schemaRefs>
    <ds:schemaRef ds:uri="http://schemas.microsoft.com/sharepoint/v3/contenttype/forms"/>
  </ds:schemaRefs>
</ds:datastoreItem>
</file>

<file path=customXml/itemProps2.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2</TotalTime>
  <Words>4</Words>
  <Application>Microsoft Office PowerPoint</Application>
  <PresentationFormat>Widescreen</PresentationFormat>
  <Paragraphs>2</Paragraphs>
  <Slides>4</Slides>
  <Notes>3</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Helena</vt:lpstr>
      <vt:lpstr>Actual vs Forecast Sales Trends (Jan-Jun 2025)</vt:lpstr>
      <vt:lpstr>Sales Trends Overview</vt:lpstr>
      <vt:lpstr>Actual vs Forecast Sales Analysis</vt:lpstr>
      <vt:lpstr>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39</cp:revision>
  <dcterms:created xsi:type="dcterms:W3CDTF">2025-08-21T23:24:42Z</dcterms:created>
  <dcterms:modified xsi:type="dcterms:W3CDTF">2025-11-30T11:55:25Z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